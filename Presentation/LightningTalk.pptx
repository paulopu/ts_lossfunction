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pic>
        <p:nvPicPr>
          <p:cNvPr id="42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43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9143640" cy="1412280"/>
          </a:xfrm>
          <a:prstGeom prst="rect">
            <a:avLst/>
          </a:prstGeom>
          <a:solidFill>
            <a:srgbClr val="f2f2f2"/>
          </a:solidFill>
          <a:ln w="25560">
            <a:noFill/>
          </a:ln>
        </p:spPr>
      </p:sp>
      <p:sp>
        <p:nvSpPr>
          <p:cNvPr id="1" name="CustomShape 2"/>
          <p:cNvSpPr/>
          <p:nvPr/>
        </p:nvSpPr>
        <p:spPr>
          <a:xfrm>
            <a:off x="857160" y="6356520"/>
            <a:ext cx="1356840" cy="36468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CustomShape 3"/>
          <p:cNvSpPr/>
          <p:nvPr/>
        </p:nvSpPr>
        <p:spPr>
          <a:xfrm>
            <a:off x="7236360" y="6356520"/>
            <a:ext cx="1478880" cy="36468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CustomShape 4"/>
          <p:cNvSpPr/>
          <p:nvPr/>
        </p:nvSpPr>
        <p:spPr>
          <a:xfrm>
            <a:off x="0" y="6492960"/>
            <a:ext cx="9143640" cy="364680"/>
          </a:xfrm>
          <a:prstGeom prst="rect">
            <a:avLst/>
          </a:prstGeom>
          <a:solidFill>
            <a:srgbClr val="193553"/>
          </a:solidFill>
          <a:ln w="25560">
            <a:noFill/>
          </a:ln>
        </p:spPr>
      </p:sp>
      <p:sp>
        <p:nvSpPr>
          <p:cNvPr id="4" name="CustomShape 5"/>
          <p:cNvSpPr/>
          <p:nvPr/>
        </p:nvSpPr>
        <p:spPr>
          <a:xfrm>
            <a:off x="611640" y="6453360"/>
            <a:ext cx="403200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r>
              <a:rPr lang="de-DE" sz="1200">
                <a:solidFill>
                  <a:srgbClr val="808080"/>
                </a:solidFill>
                <a:latin typeface="Times New Roman"/>
              </a:rPr>
              <a:t>Universität Potsdam</a:t>
            </a:r>
            <a:endParaRPr/>
          </a:p>
        </p:txBody>
      </p:sp>
      <p:pic>
        <p:nvPicPr>
          <p:cNvPr id="5" name="Grafik 10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318600"/>
            <a:ext cx="2483640" cy="1094040"/>
          </a:xfrm>
          <a:prstGeom prst="rect">
            <a:avLst/>
          </a:prstGeom>
          <a:ln>
            <a:noFill/>
          </a:ln>
        </p:spPr>
      </p:pic>
      <p:sp>
        <p:nvSpPr>
          <p:cNvPr id="6" name="CustomShape 6"/>
          <p:cNvSpPr/>
          <p:nvPr/>
        </p:nvSpPr>
        <p:spPr>
          <a:xfrm>
            <a:off x="714240" y="6356520"/>
            <a:ext cx="1499760" cy="36468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CustomShape 7"/>
          <p:cNvSpPr/>
          <p:nvPr/>
        </p:nvSpPr>
        <p:spPr>
          <a:xfrm>
            <a:off x="7236360" y="6356520"/>
            <a:ext cx="1478880" cy="364680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PlaceHolder 8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rIns="0" tIns="0" bIns="0" anchor="ctr"/>
          <a:p>
            <a:r>
              <a:rPr lang="de-DE"/>
              <a:t>Klicken Sie, um das Format des Titeltextes zu bearbeiten</a:t>
            </a:r>
            <a:endParaRPr/>
          </a:p>
        </p:txBody>
      </p:sp>
      <p:sp>
        <p:nvSpPr>
          <p:cNvPr id="9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lang="de-DE"/>
              <a:t>Klicken Sie, um die Formate des Gliederungstextes zu bearbeiten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de-DE"/>
              <a:t>Zweite Gliederungsebene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de-DE"/>
              <a:t>Dritte Gliederungsebene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de-DE"/>
              <a:t>Vierte Gliederungsebene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de-DE"/>
              <a:t>Fünfte Gliederungsebene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de-DE"/>
              <a:t>Sechste Gliederungsebene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de-DE"/>
              <a:t>Siebente Gliederungsebene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rIns="0" tIns="0" bIns="0" anchor="ctr"/>
          <a:p>
            <a:endParaRPr/>
          </a:p>
        </p:txBody>
      </p:sp>
      <p:sp>
        <p:nvSpPr>
          <p:cNvPr id="45" name="TextShape 2"/>
          <p:cNvSpPr txBox="1"/>
          <p:nvPr/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4400"/>
              <a:t>Learning a Loss Function for Text Simplification</a:t>
            </a:r>
            <a:endParaRPr/>
          </a:p>
          <a:p>
            <a:pPr algn="ctr"/>
            <a:endParaRPr/>
          </a:p>
          <a:p>
            <a:pPr algn="ctr"/>
            <a:r>
              <a:rPr lang="de-DE" sz="2000"/>
              <a:t>Rebekah Cramerus, Paul Opuchlich, Malte Klingenberg</a:t>
            </a:r>
            <a:endParaRPr/>
          </a:p>
          <a:p>
            <a:pPr algn="ctr"/>
            <a:r>
              <a:rPr lang="de-DE" sz="2000"/>
              <a:t>28.06.2018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47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problem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training a neural network using gradient descent requires a differentiable loss function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but: typical text simplicity features defined stepwise, not smooth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49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problem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training a neural network using gradient descent requires a differentiable loss function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but: typical text simplicity features defined stepwise, not smooth</a:t>
            </a: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idea: create „helper“ network to calculate difficulty score</a:t>
            </a:r>
            <a:endParaRPr/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51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datasets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British Council „LearnEnglish“, News in levels etc.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but: only small number of difficulty levels</a:t>
            </a: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hopefully: Newsela (quasi-continuous difficulty scale)</a:t>
            </a:r>
            <a:endParaRPr/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53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defining difficulty score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lexical features: average word length, ratio of basic english words, type-token ratio...</a:t>
            </a: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55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defining difficulty score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lexical features: average word length, ratio of basic english words, type-token ratio...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syntactical features: number of subordinate clauses, prepositional phrases, passive voice...</a:t>
            </a: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57" name="TextShape 2"/>
          <p:cNvSpPr txBox="1"/>
          <p:nvPr/>
        </p:nvSpPr>
        <p:spPr>
          <a:xfrm>
            <a:off x="457200" y="1584000"/>
            <a:ext cx="8229240" cy="3997800"/>
          </a:xfrm>
          <a:prstGeom prst="rect">
            <a:avLst/>
          </a:prstGeom>
        </p:spPr>
        <p:txBody>
          <a:bodyPr wrap="none" lIns="0" rIns="0" tIns="0" bIns="0"/>
          <a:p>
            <a:pPr algn="ctr">
              <a:buSzPct val="25000"/>
              <a:buFont typeface="StarSymbol"/>
              <a:buChar char=""/>
            </a:pPr>
            <a:r>
              <a:rPr b="1" lang="de-DE" sz="2400"/>
              <a:t>type-token ratio</a:t>
            </a: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</p:txBody>
      </p:sp>
      <p:pic>
        <p:nvPicPr>
          <p:cNvPr id="58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800000" y="2160000"/>
            <a:ext cx="569268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60" name="TextShape 2"/>
          <p:cNvSpPr txBox="1"/>
          <p:nvPr/>
        </p:nvSpPr>
        <p:spPr>
          <a:xfrm>
            <a:off x="457200" y="1584000"/>
            <a:ext cx="8229240" cy="3997800"/>
          </a:xfrm>
          <a:prstGeom prst="rect">
            <a:avLst/>
          </a:prstGeom>
        </p:spPr>
        <p:txBody>
          <a:bodyPr wrap="none" lIns="0" rIns="0" tIns="0" bIns="0"/>
          <a:p>
            <a:pPr algn="ctr">
              <a:buSzPct val="25000"/>
              <a:buFont typeface="StarSymbol"/>
              <a:buChar char=""/>
            </a:pPr>
            <a:r>
              <a:rPr b="1" lang="de-DE" sz="2400"/>
              <a:t>all features combined</a:t>
            </a: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</p:txBody>
      </p:sp>
      <p:pic>
        <p:nvPicPr>
          <p:cNvPr id="61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728000" y="2205720"/>
            <a:ext cx="5976000" cy="4058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63" name="TextShape 2"/>
          <p:cNvSpPr txBox="1"/>
          <p:nvPr/>
        </p:nvSpPr>
        <p:spPr>
          <a:xfrm>
            <a:off x="457200" y="1584000"/>
            <a:ext cx="8229240" cy="3997800"/>
          </a:xfrm>
          <a:prstGeom prst="rect">
            <a:avLst/>
          </a:prstGeom>
        </p:spPr>
        <p:txBody>
          <a:bodyPr wrap="none" lIns="0" rIns="0" tIns="0" bIns="0"/>
          <a:p>
            <a:pPr algn="ctr">
              <a:buSzPct val="25000"/>
              <a:buFont typeface="StarSymbol"/>
              <a:buChar char=""/>
            </a:pPr>
            <a:r>
              <a:rPr b="1" lang="de-DE" sz="2400"/>
              <a:t>all features combined</a:t>
            </a: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  <a:p>
            <a:pPr algn="ctr">
              <a:buSzPct val="25000"/>
              <a:buFont typeface="StarSymbol"/>
              <a:buChar char=""/>
            </a:pPr>
            <a:endParaRPr/>
          </a:p>
        </p:txBody>
      </p:sp>
      <p:pic>
        <p:nvPicPr>
          <p:cNvPr id="64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746360" y="2192760"/>
            <a:ext cx="6029640" cy="4143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3744000" y="-360"/>
            <a:ext cx="4032000" cy="1440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de-DE" sz="2800"/>
              <a:t>Learning a Loss Function for Text Simplification</a:t>
            </a:r>
            <a:endParaRPr/>
          </a:p>
        </p:txBody>
      </p:sp>
      <p:sp>
        <p:nvSpPr>
          <p:cNvPr id="66" name="TextShape 2"/>
          <p:cNvSpPr txBox="1"/>
          <p:nvPr/>
        </p:nvSpPr>
        <p:spPr>
          <a:xfrm>
            <a:off x="457200" y="2088000"/>
            <a:ext cx="8229240" cy="349380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b="1" lang="de-DE" sz="2400"/>
              <a:t>next steps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cross fingers about Newsela corpus</a:t>
            </a:r>
            <a:endParaRPr/>
          </a:p>
          <a:p>
            <a:pPr>
              <a:buSzPct val="25000"/>
              <a:buFont typeface="StarSymbol"/>
              <a:buChar char=""/>
            </a:pPr>
            <a:r>
              <a:rPr lang="de-DE" sz="2000"/>
              <a:t>train neural network on the difficulty scores</a:t>
            </a:r>
            <a:endParaRPr/>
          </a:p>
          <a:p>
            <a:pPr>
              <a:buSzPct val="25000"/>
              <a:buFont typeface="StarSymbol"/>
              <a:buChar char=""/>
            </a:pPr>
            <a:endParaRPr/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